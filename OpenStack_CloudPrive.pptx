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C3FD"/>
    <a:srgbClr val="CF2131"/>
    <a:srgbClr val="A01820"/>
    <a:srgbClr val="2B2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161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A0321-2168-56FE-EF49-035816A90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2F6798-45B9-557F-43E9-5D6458973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5E6463-9FA1-A0A4-92E3-42D1A1CC6B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FB83A-CAB9-B80A-B370-1439A4A361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64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118872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20700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800" dirty="0">
                <a:solidFill>
                  <a:srgbClr val="CF2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PRIVÉ</a:t>
            </a:r>
            <a:endParaRPr lang="en-US" sz="1300" dirty="0">
              <a:solidFill>
                <a:srgbClr val="CF213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d'un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Privé avec OpenStack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320040" y="3291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· Machines Virtuelles · Réseau · Stockage</a:t>
            </a:r>
            <a:endParaRPr lang="en-US" sz="13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B21D833-E8AD-4BAC-9B12-1D34F5E84D51}"/>
              </a:ext>
            </a:extLst>
          </p:cNvPr>
          <p:cNvGrpSpPr/>
          <p:nvPr/>
        </p:nvGrpSpPr>
        <p:grpSpPr>
          <a:xfrm>
            <a:off x="347473" y="2788920"/>
            <a:ext cx="2194560" cy="502920"/>
            <a:chOff x="320040" y="3931920"/>
            <a:chExt cx="2194560" cy="502920"/>
          </a:xfrm>
        </p:grpSpPr>
        <p:sp>
          <p:nvSpPr>
            <p:cNvPr id="7" name="Shape 5"/>
            <p:cNvSpPr/>
            <p:nvPr/>
          </p:nvSpPr>
          <p:spPr>
            <a:xfrm>
              <a:off x="320040" y="3931920"/>
              <a:ext cx="2194560" cy="502920"/>
            </a:xfrm>
            <a:prstGeom prst="rect">
              <a:avLst/>
            </a:prstGeom>
            <a:solidFill>
              <a:srgbClr val="A01820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320040" y="3931920"/>
              <a:ext cx="2194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Ubuntu 24.04 · DevStack</a:t>
              </a:r>
              <a:endParaRPr lang="en-US" sz="1100" dirty="0"/>
            </a:p>
          </p:txBody>
        </p:sp>
      </p:grpSp>
      <p:sp>
        <p:nvSpPr>
          <p:cNvPr id="9" name="Shape 7"/>
          <p:cNvSpPr/>
          <p:nvPr/>
        </p:nvSpPr>
        <p:spPr>
          <a:xfrm>
            <a:off x="6355080" y="1371600"/>
            <a:ext cx="2468880" cy="502920"/>
          </a:xfrm>
          <a:prstGeom prst="rect">
            <a:avLst/>
          </a:prstGeom>
          <a:solidFill>
            <a:srgbClr val="3A3A3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55080" y="1371600"/>
            <a:ext cx="54864" cy="50292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64808" y="1371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965960"/>
            <a:ext cx="2468880" cy="502920"/>
          </a:xfrm>
          <a:prstGeom prst="rect">
            <a:avLst/>
          </a:prstGeom>
          <a:solidFill>
            <a:srgbClr val="333333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355080" y="1965960"/>
            <a:ext cx="54864" cy="50292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64808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2560320"/>
            <a:ext cx="2468880" cy="502920"/>
          </a:xfrm>
          <a:prstGeom prst="rect">
            <a:avLst/>
          </a:prstGeom>
          <a:solidFill>
            <a:srgbClr val="3A3A3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55080" y="2560320"/>
            <a:ext cx="54864" cy="50292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64808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55080" y="3154680"/>
            <a:ext cx="2468880" cy="502920"/>
          </a:xfrm>
          <a:prstGeom prst="rect">
            <a:avLst/>
          </a:prstGeom>
          <a:solidFill>
            <a:srgbClr val="333333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55080" y="3154680"/>
            <a:ext cx="54864" cy="50292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64808" y="3154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3749040"/>
            <a:ext cx="2468880" cy="502920"/>
          </a:xfrm>
          <a:prstGeom prst="rect">
            <a:avLst/>
          </a:prstGeom>
          <a:solidFill>
            <a:srgbClr val="3A3A3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55080" y="3749040"/>
            <a:ext cx="54864" cy="50292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64808" y="3749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4343400"/>
            <a:ext cx="2468880" cy="502920"/>
          </a:xfrm>
          <a:prstGeom prst="rect">
            <a:avLst/>
          </a:prstGeom>
          <a:solidFill>
            <a:srgbClr val="333333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 dirty="0"/>
          </a:p>
        </p:txBody>
      </p:sp>
      <p:sp>
        <p:nvSpPr>
          <p:cNvPr id="25" name="Shape 23"/>
          <p:cNvSpPr/>
          <p:nvPr/>
        </p:nvSpPr>
        <p:spPr>
          <a:xfrm>
            <a:off x="6355080" y="4343400"/>
            <a:ext cx="54864" cy="50292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64808" y="4343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65AE56-32EA-443C-83AE-95D1874A0B08}"/>
              </a:ext>
            </a:extLst>
          </p:cNvPr>
          <p:cNvSpPr txBox="1"/>
          <p:nvPr/>
        </p:nvSpPr>
        <p:spPr>
          <a:xfrm>
            <a:off x="347473" y="4042871"/>
            <a:ext cx="204716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OUAFIR Mohamed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ENNAQUI Zakaria</a:t>
            </a:r>
            <a:endParaRPr lang="fr-MA" sz="1300" dirty="0">
              <a:solidFill>
                <a:srgbClr val="D6D6D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59533B-790B-4FE2-AADF-7509DF7F87ED}"/>
              </a:ext>
            </a:extLst>
          </p:cNvPr>
          <p:cNvSpPr txBox="1"/>
          <p:nvPr/>
        </p:nvSpPr>
        <p:spPr>
          <a:xfrm>
            <a:off x="3774014" y="4042871"/>
            <a:ext cx="20471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SAHMI Imane</a:t>
            </a:r>
          </a:p>
        </p:txBody>
      </p:sp>
      <p:pic>
        <p:nvPicPr>
          <p:cNvPr id="33" name="Image 0">
            <a:extLst>
              <a:ext uri="{FF2B5EF4-FFF2-40B4-BE49-F238E27FC236}">
                <a16:creationId xmlns:a16="http://schemas.microsoft.com/office/drawing/2014/main" id="{075C9027-0C29-0387-A24C-6F2FAED16D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0235" y="133603"/>
            <a:ext cx="1590363" cy="581498"/>
          </a:xfrm>
          <a:prstGeom prst="rect">
            <a:avLst/>
          </a:prstGeom>
        </p:spPr>
      </p:pic>
      <p:pic>
        <p:nvPicPr>
          <p:cNvPr id="34" name="Image 1">
            <a:extLst>
              <a:ext uri="{FF2B5EF4-FFF2-40B4-BE49-F238E27FC236}">
                <a16:creationId xmlns:a16="http://schemas.microsoft.com/office/drawing/2014/main" id="{FE98E731-D863-6E2D-9FDF-E3ABEDECFF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95160" y="197010"/>
            <a:ext cx="1921386" cy="526406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F2C9BA47-444A-B128-B6D7-3E4BB498843D}"/>
              </a:ext>
            </a:extLst>
          </p:cNvPr>
          <p:cNvGrpSpPr/>
          <p:nvPr/>
        </p:nvGrpSpPr>
        <p:grpSpPr>
          <a:xfrm>
            <a:off x="934374" y="524717"/>
            <a:ext cx="6744723" cy="597396"/>
            <a:chOff x="1066800" y="691296"/>
            <a:chExt cx="6744723" cy="597396"/>
          </a:xfrm>
        </p:grpSpPr>
        <p:sp>
          <p:nvSpPr>
            <p:cNvPr id="36" name="Text 3">
              <a:extLst>
                <a:ext uri="{FF2B5EF4-FFF2-40B4-BE49-F238E27FC236}">
                  <a16:creationId xmlns:a16="http://schemas.microsoft.com/office/drawing/2014/main" id="{2BD0790A-C3E0-9B03-1DDC-E860FF0383D2}"/>
                </a:ext>
              </a:extLst>
            </p:cNvPr>
            <p:cNvSpPr/>
            <p:nvPr/>
          </p:nvSpPr>
          <p:spPr>
            <a:xfrm>
              <a:off x="1066800" y="691296"/>
              <a:ext cx="65836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500" b="1" dirty="0">
                  <a:solidFill>
                    <a:srgbClr val="A5B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Université Hassan 1er </a:t>
              </a:r>
              <a:r>
                <a:rPr lang="en-US" sz="1500" b="1" dirty="0">
                  <a:solidFill>
                    <a:srgbClr val="B7C3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</a:t>
              </a:r>
              <a:r>
                <a:rPr lang="en-US" sz="1500" b="1" dirty="0">
                  <a:solidFill>
                    <a:srgbClr val="A5B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ENSA Berrechid</a:t>
              </a:r>
              <a:endParaRPr lang="en-US" sz="1500" b="1" dirty="0"/>
            </a:p>
          </p:txBody>
        </p:sp>
        <p:sp>
          <p:nvSpPr>
            <p:cNvPr id="37" name="Text 4">
              <a:extLst>
                <a:ext uri="{FF2B5EF4-FFF2-40B4-BE49-F238E27FC236}">
                  <a16:creationId xmlns:a16="http://schemas.microsoft.com/office/drawing/2014/main" id="{84D3BAC1-536A-8CBC-8E88-591FAD9A442B}"/>
                </a:ext>
              </a:extLst>
            </p:cNvPr>
            <p:cNvSpPr/>
            <p:nvPr/>
          </p:nvSpPr>
          <p:spPr>
            <a:xfrm>
              <a:off x="1227843" y="1032660"/>
              <a:ext cx="65836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500" b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Génie Informatique </a:t>
              </a:r>
              <a:r>
                <a:rPr lang="en-US" sz="1500" b="1" dirty="0">
                  <a:solidFill>
                    <a:srgbClr val="B7C3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</a:t>
              </a:r>
              <a:r>
                <a:rPr lang="en-US" sz="1500" b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Administration systems &amp; réseaux </a:t>
              </a:r>
              <a:r>
                <a:rPr lang="en-US" sz="1500" b="1" dirty="0">
                  <a:solidFill>
                    <a:srgbClr val="B7C3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</a:t>
              </a:r>
              <a:r>
                <a:rPr lang="en-US" sz="1500" b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S8</a:t>
              </a:r>
              <a:endParaRPr lang="en-US" sz="1500" b="1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BB90339-2D61-2FA4-3A76-F9FCB79645C3}"/>
              </a:ext>
            </a:extLst>
          </p:cNvPr>
          <p:cNvGrpSpPr/>
          <p:nvPr/>
        </p:nvGrpSpPr>
        <p:grpSpPr>
          <a:xfrm>
            <a:off x="-3316474" y="5208328"/>
            <a:ext cx="4572000" cy="4572000"/>
            <a:chOff x="5486400" y="-731520"/>
            <a:chExt cx="4572000" cy="4572000"/>
          </a:xfrm>
        </p:grpSpPr>
        <p:sp>
          <p:nvSpPr>
            <p:cNvPr id="38" name="Shape 2">
              <a:extLst>
                <a:ext uri="{FF2B5EF4-FFF2-40B4-BE49-F238E27FC236}">
                  <a16:creationId xmlns:a16="http://schemas.microsoft.com/office/drawing/2014/main" id="{DA57EC4A-68FD-C39F-4870-6CE02220FCB1}"/>
                </a:ext>
              </a:extLst>
            </p:cNvPr>
            <p:cNvSpPr/>
            <p:nvPr/>
          </p:nvSpPr>
          <p:spPr>
            <a:xfrm>
              <a:off x="5486400" y="-731520"/>
              <a:ext cx="4572000" cy="4572000"/>
            </a:xfrm>
            <a:prstGeom prst="ellipse">
              <a:avLst/>
            </a:prstGeom>
            <a:solidFill>
              <a:schemeClr val="bg2">
                <a:lumMod val="75000"/>
                <a:alpha val="18000"/>
              </a:schemeClr>
            </a:solidFill>
            <a:ln w="12700">
              <a:solidFill>
                <a:srgbClr val="CF2131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">
              <a:extLst>
                <a:ext uri="{FF2B5EF4-FFF2-40B4-BE49-F238E27FC236}">
                  <a16:creationId xmlns:a16="http://schemas.microsoft.com/office/drawing/2014/main" id="{A908F3C5-E795-C7BA-7496-9CC54E39FC8F}"/>
                </a:ext>
              </a:extLst>
            </p:cNvPr>
            <p:cNvSpPr/>
            <p:nvPr/>
          </p:nvSpPr>
          <p:spPr>
            <a:xfrm>
              <a:off x="6217920" y="0"/>
              <a:ext cx="3108960" cy="3108960"/>
            </a:xfrm>
            <a:prstGeom prst="ellipse">
              <a:avLst/>
            </a:prstGeom>
            <a:solidFill>
              <a:srgbClr val="A01820">
                <a:alpha val="14000"/>
              </a:srgbClr>
            </a:solidFill>
            <a:ln w="12700">
              <a:solidFill>
                <a:srgbClr val="CF2131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DES MATIÈRES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109728" cy="454914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118872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94360" cy="118872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8869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Architecture Cloud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Concepts, composants OpenStack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4114800" cy="118872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594360" cy="118872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19456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23042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avec DevStack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24.04, local.conf, stack.sh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4114800" cy="118872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594360" cy="118872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61188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3721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Machines Virtuelles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4206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Horizon &amp; CLI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777240"/>
            <a:ext cx="4114800" cy="118872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777240"/>
            <a:ext cx="594360" cy="118872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0" y="77724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8869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Ressources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Flavors, Quotas, Volumes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194560"/>
            <a:ext cx="4114800" cy="118872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2194560"/>
            <a:ext cx="594360" cy="118872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219456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40680" y="23042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Virtuel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4068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Réseaux, Sous-réseaux, Routeurs, IPs Flottantes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11880"/>
            <a:ext cx="4114800" cy="118872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611880"/>
            <a:ext cx="594360" cy="118872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361188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40680" y="3721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Validation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4206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Connectivité, SSH, monitoring</a:t>
            </a:r>
            <a:endParaRPr 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1C5335-22EB-9EE1-5BFB-0C38F86DBE8D}"/>
              </a:ext>
            </a:extLst>
          </p:cNvPr>
          <p:cNvSpPr txBox="1"/>
          <p:nvPr/>
        </p:nvSpPr>
        <p:spPr>
          <a:xfrm>
            <a:off x="8915400" y="47429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INTRODUCTION &amp;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3931920" cy="1005840"/>
          </a:xfrm>
          <a:prstGeom prst="rect">
            <a:avLst/>
          </a:prstGeom>
          <a:solidFill>
            <a:srgbClr val="2B2B2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31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F2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qu'un Cloud Privé 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cloud dédiée à une seule organisation, hébergée on-premise avec contrôle total des ressources et de la sécurité.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89120" y="731520"/>
            <a:ext cx="4480560" cy="100584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0" y="731520"/>
            <a:ext cx="73152" cy="100584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749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OpenStack 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1155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Open-source &amp; gratuit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Modulaire &amp; scalable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Standard industrie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Interface web Horizon incluse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74193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OpenStack (All-in-One)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" y="2047512"/>
            <a:ext cx="1554480" cy="640080"/>
          </a:xfrm>
          <a:prstGeom prst="rect">
            <a:avLst/>
          </a:prstGeom>
          <a:solidFill>
            <a:srgbClr val="D6D6D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2608" y="204751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Utilisateur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Admin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95728" y="2047512"/>
            <a:ext cx="1645920" cy="640080"/>
          </a:xfrm>
          <a:prstGeom prst="rect">
            <a:avLst/>
          </a:prstGeom>
          <a:solidFill>
            <a:srgbClr val="CF2131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95728" y="204751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0" y="2103120"/>
            <a:ext cx="4572000" cy="274320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 dirty="0"/>
          </a:p>
        </p:txBody>
      </p:sp>
      <p:sp>
        <p:nvSpPr>
          <p:cNvPr id="20" name="Shape 18"/>
          <p:cNvSpPr/>
          <p:nvPr/>
        </p:nvSpPr>
        <p:spPr>
          <a:xfrm>
            <a:off x="4297680" y="2114550"/>
            <a:ext cx="4572000" cy="320040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9768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OpenStack</a:t>
            </a:r>
            <a:endParaRPr lang="en-US" sz="11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86B7C82-6955-4C68-AB8D-66D0C8F53B43}"/>
              </a:ext>
            </a:extLst>
          </p:cNvPr>
          <p:cNvGrpSpPr/>
          <p:nvPr/>
        </p:nvGrpSpPr>
        <p:grpSpPr>
          <a:xfrm>
            <a:off x="4343400" y="2487168"/>
            <a:ext cx="4453128" cy="292608"/>
            <a:chOff x="4343400" y="2487168"/>
            <a:chExt cx="4453128" cy="292608"/>
          </a:xfrm>
        </p:grpSpPr>
        <p:sp>
          <p:nvSpPr>
            <p:cNvPr id="22" name="Shape 20"/>
            <p:cNvSpPr/>
            <p:nvPr/>
          </p:nvSpPr>
          <p:spPr>
            <a:xfrm>
              <a:off x="4343400" y="2487168"/>
              <a:ext cx="73152" cy="292608"/>
            </a:xfrm>
            <a:prstGeom prst="rect">
              <a:avLst/>
            </a:prstGeom>
            <a:solidFill>
              <a:srgbClr val="CF213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21"/>
            <p:cNvSpPr/>
            <p:nvPr/>
          </p:nvSpPr>
          <p:spPr>
            <a:xfrm>
              <a:off x="4526280" y="2496312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Keystone</a:t>
              </a:r>
              <a:endParaRPr lang="en-US" sz="10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870448" y="2496312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Authentification &amp; autorisation</a:t>
              </a:r>
              <a:endParaRPr lang="en-US" sz="1000" dirty="0"/>
            </a:p>
          </p:txBody>
        </p:sp>
      </p:grpSp>
      <p:sp>
        <p:nvSpPr>
          <p:cNvPr id="25" name="Shape 23"/>
          <p:cNvSpPr/>
          <p:nvPr/>
        </p:nvSpPr>
        <p:spPr>
          <a:xfrm>
            <a:off x="4343400" y="2852928"/>
            <a:ext cx="73152" cy="292608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26280" y="28620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70448" y="2862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instances (VMs)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43400" y="3218688"/>
            <a:ext cx="73152" cy="292608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26280" y="32278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70448" y="3227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virtuel SDN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43400" y="3584448"/>
            <a:ext cx="73152" cy="292608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26280" y="3593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70448" y="3593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disque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43400" y="3950208"/>
            <a:ext cx="73152" cy="292608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26280" y="3959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70448" y="3959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bloc persistant</a:t>
            </a:r>
            <a:endParaRPr lang="en-US" sz="10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A57D711-8E8A-4D73-8C36-4E07FF29984A}"/>
              </a:ext>
            </a:extLst>
          </p:cNvPr>
          <p:cNvGrpSpPr/>
          <p:nvPr/>
        </p:nvGrpSpPr>
        <p:grpSpPr>
          <a:xfrm>
            <a:off x="4343400" y="4315968"/>
            <a:ext cx="4453128" cy="292608"/>
            <a:chOff x="4343400" y="2487168"/>
            <a:chExt cx="4453128" cy="292608"/>
          </a:xfrm>
        </p:grpSpPr>
        <p:sp>
          <p:nvSpPr>
            <p:cNvPr id="41" name="Shape 20">
              <a:extLst>
                <a:ext uri="{FF2B5EF4-FFF2-40B4-BE49-F238E27FC236}">
                  <a16:creationId xmlns:a16="http://schemas.microsoft.com/office/drawing/2014/main" id="{ED0C08AF-0A06-497B-ABF8-D26C2DC6F7AC}"/>
                </a:ext>
              </a:extLst>
            </p:cNvPr>
            <p:cNvSpPr/>
            <p:nvPr/>
          </p:nvSpPr>
          <p:spPr>
            <a:xfrm>
              <a:off x="4343400" y="2487168"/>
              <a:ext cx="73152" cy="292608"/>
            </a:xfrm>
            <a:prstGeom prst="rect">
              <a:avLst/>
            </a:prstGeom>
            <a:solidFill>
              <a:srgbClr val="CF213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A5499A4F-CCB0-4E1B-879D-1ADDDC3691F1}"/>
                </a:ext>
              </a:extLst>
            </p:cNvPr>
            <p:cNvSpPr/>
            <p:nvPr/>
          </p:nvSpPr>
          <p:spPr>
            <a:xfrm>
              <a:off x="4526280" y="2496312"/>
              <a:ext cx="12801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2B2B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Horizon</a:t>
              </a:r>
              <a:endParaRPr lang="en-US" sz="1000" dirty="0"/>
            </a:p>
          </p:txBody>
        </p:sp>
        <p:sp>
          <p:nvSpPr>
            <p:cNvPr id="43" name="Text 22">
              <a:extLst>
                <a:ext uri="{FF2B5EF4-FFF2-40B4-BE49-F238E27FC236}">
                  <a16:creationId xmlns:a16="http://schemas.microsoft.com/office/drawing/2014/main" id="{2EB97772-2131-4E22-8BCD-E85BC2782700}"/>
                </a:ext>
              </a:extLst>
            </p:cNvPr>
            <p:cNvSpPr/>
            <p:nvPr/>
          </p:nvSpPr>
          <p:spPr>
            <a:xfrm>
              <a:off x="5870448" y="2496312"/>
              <a:ext cx="29260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Interface </a:t>
              </a:r>
              <a:r>
                <a:rPr lang="en-US" sz="1000" dirty="0" err="1">
                  <a:solidFill>
                    <a:srgbClr val="4A4A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Graphique</a:t>
              </a:r>
              <a:endParaRPr lang="en-US" sz="1000" dirty="0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F8ED143A-44D2-B074-9B82-B8D7820A4BFD}"/>
              </a:ext>
            </a:extLst>
          </p:cNvPr>
          <p:cNvSpPr/>
          <p:nvPr/>
        </p:nvSpPr>
        <p:spPr>
          <a:xfrm>
            <a:off x="292608" y="2770632"/>
            <a:ext cx="3749040" cy="1901949"/>
          </a:xfrm>
          <a:prstGeom prst="rect">
            <a:avLst/>
          </a:prstGeom>
          <a:solidFill>
            <a:srgbClr val="2B2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3ECE5235-2604-308E-010A-13AE459EEC62}"/>
              </a:ext>
            </a:extLst>
          </p:cNvPr>
          <p:cNvSpPr/>
          <p:nvPr/>
        </p:nvSpPr>
        <p:spPr>
          <a:xfrm>
            <a:off x="1008126" y="2759626"/>
            <a:ext cx="2199132" cy="257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CF2131"/>
                </a:solidFill>
              </a:rPr>
              <a:t>Windows (host machine)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5E20C11-1552-78CB-A4E9-E2941F9A7E49}"/>
              </a:ext>
            </a:extLst>
          </p:cNvPr>
          <p:cNvSpPr/>
          <p:nvPr/>
        </p:nvSpPr>
        <p:spPr>
          <a:xfrm>
            <a:off x="384048" y="3079665"/>
            <a:ext cx="3509010" cy="1592916"/>
          </a:xfrm>
          <a:prstGeom prst="rect">
            <a:avLst/>
          </a:prstGeom>
          <a:solidFill>
            <a:srgbClr val="CF21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BD55880-39BB-8BA9-D406-9D3E4D3266BF}"/>
              </a:ext>
            </a:extLst>
          </p:cNvPr>
          <p:cNvSpPr/>
          <p:nvPr/>
        </p:nvSpPr>
        <p:spPr>
          <a:xfrm>
            <a:off x="521208" y="3325933"/>
            <a:ext cx="3177257" cy="13466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 8">
            <a:extLst>
              <a:ext uri="{FF2B5EF4-FFF2-40B4-BE49-F238E27FC236}">
                <a16:creationId xmlns:a16="http://schemas.microsoft.com/office/drawing/2014/main" id="{BCFAF352-6593-1EFA-C090-D2F3B3D53D3C}"/>
              </a:ext>
            </a:extLst>
          </p:cNvPr>
          <p:cNvSpPr/>
          <p:nvPr/>
        </p:nvSpPr>
        <p:spPr>
          <a:xfrm>
            <a:off x="1019556" y="3079665"/>
            <a:ext cx="2199132" cy="257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VirtualBox</a:t>
            </a:r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08256500-3C1A-61F8-D735-9D48DDF8E962}"/>
              </a:ext>
            </a:extLst>
          </p:cNvPr>
          <p:cNvSpPr/>
          <p:nvPr/>
        </p:nvSpPr>
        <p:spPr>
          <a:xfrm>
            <a:off x="1019556" y="3335979"/>
            <a:ext cx="2199132" cy="257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dirty="0"/>
              <a:t>Ubuntu 22.04 LTS (VM)</a:t>
            </a:r>
          </a:p>
          <a:p>
            <a:pPr algn="ctr"/>
            <a:r>
              <a:rPr lang="en-US" sz="800" dirty="0"/>
              <a:t>4+ CPU cores · 8+ GB RAM · 80+ GB disk</a:t>
            </a:r>
            <a:endParaRPr lang="en-US" sz="800" dirty="0">
              <a:solidFill>
                <a:srgbClr val="CF213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0E5A241-8EDA-1956-F4B0-BB08F7D94E69}"/>
              </a:ext>
            </a:extLst>
          </p:cNvPr>
          <p:cNvSpPr/>
          <p:nvPr/>
        </p:nvSpPr>
        <p:spPr>
          <a:xfrm>
            <a:off x="726948" y="3602737"/>
            <a:ext cx="2800350" cy="106984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 8">
            <a:extLst>
              <a:ext uri="{FF2B5EF4-FFF2-40B4-BE49-F238E27FC236}">
                <a16:creationId xmlns:a16="http://schemas.microsoft.com/office/drawing/2014/main" id="{C02177A8-69E7-4C3E-664C-1B0F4F4CA9A5}"/>
              </a:ext>
            </a:extLst>
          </p:cNvPr>
          <p:cNvSpPr/>
          <p:nvPr/>
        </p:nvSpPr>
        <p:spPr>
          <a:xfrm>
            <a:off x="985266" y="3626516"/>
            <a:ext cx="2199132" cy="257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 err="1">
                <a:solidFill>
                  <a:srgbClr val="CF2131"/>
                </a:solidFill>
              </a:rPr>
              <a:t>DevStack</a:t>
            </a:r>
            <a:r>
              <a:rPr lang="en-US" sz="1000" dirty="0">
                <a:solidFill>
                  <a:srgbClr val="CF2131"/>
                </a:solidFill>
              </a:rPr>
              <a:t> (OpenStack)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AF77154-909A-A37E-E46E-C33112E694A9}"/>
              </a:ext>
            </a:extLst>
          </p:cNvPr>
          <p:cNvSpPr/>
          <p:nvPr/>
        </p:nvSpPr>
        <p:spPr>
          <a:xfrm>
            <a:off x="726948" y="4341115"/>
            <a:ext cx="777055" cy="33620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90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0A15B6E-4598-45F8-54A1-10A959221A91}"/>
              </a:ext>
            </a:extLst>
          </p:cNvPr>
          <p:cNvSpPr/>
          <p:nvPr/>
        </p:nvSpPr>
        <p:spPr>
          <a:xfrm>
            <a:off x="2750243" y="4336373"/>
            <a:ext cx="777055" cy="33620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CB09FCD-1C47-EE09-5367-A3DC0B063D4E}"/>
              </a:ext>
            </a:extLst>
          </p:cNvPr>
          <p:cNvSpPr/>
          <p:nvPr/>
        </p:nvSpPr>
        <p:spPr>
          <a:xfrm>
            <a:off x="1671066" y="4336373"/>
            <a:ext cx="777055" cy="33620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Keystone</a:t>
            </a:r>
          </a:p>
          <a:p>
            <a:pPr algn="ctr"/>
            <a:r>
              <a:rPr lang="en-US" sz="900" dirty="0"/>
              <a:t>Identity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7BCD0FC-A54A-4F1F-065B-1438D6F53708}"/>
              </a:ext>
            </a:extLst>
          </p:cNvPr>
          <p:cNvSpPr/>
          <p:nvPr/>
        </p:nvSpPr>
        <p:spPr>
          <a:xfrm>
            <a:off x="726947" y="3937553"/>
            <a:ext cx="777055" cy="33620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Nova</a:t>
            </a:r>
          </a:p>
          <a:p>
            <a:pPr algn="ctr"/>
            <a:r>
              <a:rPr lang="en-US" sz="1000" dirty="0"/>
              <a:t>Compute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0BD9658-C403-E5C7-A0CB-EA1CEB410D43}"/>
              </a:ext>
            </a:extLst>
          </p:cNvPr>
          <p:cNvSpPr/>
          <p:nvPr/>
        </p:nvSpPr>
        <p:spPr>
          <a:xfrm>
            <a:off x="1659635" y="3934041"/>
            <a:ext cx="777055" cy="33620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Neutron</a:t>
            </a:r>
          </a:p>
          <a:p>
            <a:pPr algn="ctr"/>
            <a:r>
              <a:rPr lang="en-US" sz="900" dirty="0"/>
              <a:t>Networking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2E8EB18-72F7-D7E0-5553-F6F6826DE8E1}"/>
              </a:ext>
            </a:extLst>
          </p:cNvPr>
          <p:cNvSpPr/>
          <p:nvPr/>
        </p:nvSpPr>
        <p:spPr>
          <a:xfrm>
            <a:off x="2750242" y="3934041"/>
            <a:ext cx="777055" cy="33620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Cinder</a:t>
            </a:r>
          </a:p>
          <a:p>
            <a:pPr algn="ctr"/>
            <a:r>
              <a:rPr lang="en-US" sz="800" dirty="0"/>
              <a:t>Block storage</a:t>
            </a:r>
          </a:p>
        </p:txBody>
      </p:sp>
      <p:sp>
        <p:nvSpPr>
          <p:cNvPr id="68" name="Text 8">
            <a:extLst>
              <a:ext uri="{FF2B5EF4-FFF2-40B4-BE49-F238E27FC236}">
                <a16:creationId xmlns:a16="http://schemas.microsoft.com/office/drawing/2014/main" id="{88CC881B-F9FC-2050-C7B1-71BB27F7F07D}"/>
              </a:ext>
            </a:extLst>
          </p:cNvPr>
          <p:cNvSpPr/>
          <p:nvPr/>
        </p:nvSpPr>
        <p:spPr>
          <a:xfrm>
            <a:off x="699516" y="4376428"/>
            <a:ext cx="811530" cy="226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Glance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Images</a:t>
            </a:r>
          </a:p>
        </p:txBody>
      </p:sp>
      <p:sp>
        <p:nvSpPr>
          <p:cNvPr id="70" name="Text 8">
            <a:extLst>
              <a:ext uri="{FF2B5EF4-FFF2-40B4-BE49-F238E27FC236}">
                <a16:creationId xmlns:a16="http://schemas.microsoft.com/office/drawing/2014/main" id="{4084550B-FF0E-D5AC-81E8-F92DE7360452}"/>
              </a:ext>
            </a:extLst>
          </p:cNvPr>
          <p:cNvSpPr/>
          <p:nvPr/>
        </p:nvSpPr>
        <p:spPr>
          <a:xfrm>
            <a:off x="2715767" y="4376428"/>
            <a:ext cx="811530" cy="2265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Horizon</a:t>
            </a:r>
          </a:p>
          <a:p>
            <a:pPr algn="ctr"/>
            <a:r>
              <a:rPr lang="en-US" sz="1000" dirty="0">
                <a:solidFill>
                  <a:schemeClr val="bg1"/>
                </a:solidFill>
              </a:rPr>
              <a:t>Dashboard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3C817A8-FACB-D205-B741-099CF6798785}"/>
              </a:ext>
            </a:extLst>
          </p:cNvPr>
          <p:cNvSpPr txBox="1"/>
          <p:nvPr/>
        </p:nvSpPr>
        <p:spPr>
          <a:xfrm>
            <a:off x="219456" y="4648631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Access via browser: http://&lt;VM-IP&gt;/dashboard</a:t>
            </a:r>
          </a:p>
          <a:p>
            <a:r>
              <a:rPr lang="en-US" sz="1500" dirty="0"/>
              <a:t>Bridged/Host-only network adapter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2484D0E-C261-63D7-57D7-CD945A4AC9DD}"/>
              </a:ext>
            </a:extLst>
          </p:cNvPr>
          <p:cNvCxnSpPr>
            <a:cxnSpLocks/>
          </p:cNvCxnSpPr>
          <p:nvPr/>
        </p:nvCxnSpPr>
        <p:spPr>
          <a:xfrm>
            <a:off x="1902655" y="2346960"/>
            <a:ext cx="457200" cy="0"/>
          </a:xfrm>
          <a:prstGeom prst="straightConnector1">
            <a:avLst/>
          </a:prstGeom>
          <a:ln w="15875">
            <a:solidFill>
              <a:srgbClr val="CF21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9B89F74-BC4E-23CE-D296-6C25264A93F1}"/>
              </a:ext>
            </a:extLst>
          </p:cNvPr>
          <p:cNvCxnSpPr>
            <a:cxnSpLocks/>
          </p:cNvCxnSpPr>
          <p:nvPr/>
        </p:nvCxnSpPr>
        <p:spPr>
          <a:xfrm>
            <a:off x="3933160" y="2301748"/>
            <a:ext cx="273080" cy="0"/>
          </a:xfrm>
          <a:prstGeom prst="straightConnector1">
            <a:avLst/>
          </a:prstGeom>
          <a:ln w="15875">
            <a:solidFill>
              <a:srgbClr val="CF21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DB330EC-906C-8891-DD97-17E55CFBAEE7}"/>
              </a:ext>
            </a:extLst>
          </p:cNvPr>
          <p:cNvSpPr txBox="1"/>
          <p:nvPr/>
        </p:nvSpPr>
        <p:spPr>
          <a:xfrm>
            <a:off x="8915400" y="47429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INSTALLATION AVEC DEVSTACK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3931920" cy="123444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3931920" cy="347472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85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Prérequis Système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 : Ubuntu 24.04 LTS (Noble)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RAM : minimum 8 Go recommandé 16 Go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CPU : 4 vCPUs minimum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Disque : 50 Go minimum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057400"/>
            <a:ext cx="4206240" cy="132588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384048" cy="132588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2057400"/>
            <a:ext cx="3840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9808" y="21488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l'utilisateur stack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9808" y="2468880"/>
            <a:ext cx="3611880" cy="822960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5528" y="2468880"/>
            <a:ext cx="35204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useradd -s /bin/bash -d /opt/stack -m stack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chmod +x /opt/stack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"stack ALL=(ALL) NOPASSWD: ALL" | sudo tee /etc/sudoers.d/stack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-u stack -i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4206240" cy="132588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3520440"/>
            <a:ext cx="384048" cy="132588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3520440"/>
            <a:ext cx="3840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49808" y="3611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Cloner DevStack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" y="3931920"/>
            <a:ext cx="3611880" cy="822960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95528" y="3931920"/>
            <a:ext cx="35204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https://opendev.org/openstack/devstack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devstack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2057400"/>
            <a:ext cx="4206240" cy="132588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057400"/>
            <a:ext cx="384048" cy="132588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2057400"/>
            <a:ext cx="3840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84648" y="21488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local.conf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84648" y="2468880"/>
            <a:ext cx="3611880" cy="822960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30368" y="2468880"/>
            <a:ext cx="35204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[[local|localrc]]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ADMIN_PASSWORD=secret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DATABASE_PASSWORD=$ADMIN_PASSWORD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RABBIT_PASSWORD=$ADMIN_PASSWORD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SERVICE_PASSWORD=$ADMIN_PASSWORD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3520440"/>
            <a:ext cx="4206240" cy="132588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09160" y="3520440"/>
            <a:ext cx="384048" cy="132588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09160" y="3520440"/>
            <a:ext cx="3840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84648" y="3611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l'installation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84648" y="3931920"/>
            <a:ext cx="3611880" cy="822960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30368" y="3931920"/>
            <a:ext cx="352044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./stack.sh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Durée : 15-30 minutes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4617720"/>
            <a:ext cx="73152" cy="41148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46177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Accès Horizon après installation : http://&lt;IP&gt;/dashboard   |   user: admin   |   password: secret</a:t>
            </a:r>
            <a:endParaRPr 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AC3334-5F96-4667-40FE-54159D53F188}"/>
              </a:ext>
            </a:extLst>
          </p:cNvPr>
          <p:cNvSpPr txBox="1"/>
          <p:nvPr/>
        </p:nvSpPr>
        <p:spPr>
          <a:xfrm>
            <a:off x="8915400" y="47429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CRÉATION DE MACHINES VIRTUELLES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73152" cy="347472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l'interface Horizon (Dashboard Web)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572768" cy="228600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1572768" cy="384048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" y="114300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connecter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572768"/>
            <a:ext cx="141732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sur http://&lt;IP&gt;/dashboard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Identifiants : admin / secret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93392" y="1143000"/>
            <a:ext cx="1572768" cy="228600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993392" y="1143000"/>
            <a:ext cx="1572768" cy="384048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93392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95728" y="114300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 projet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84832" y="1572768"/>
            <a:ext cx="141732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déroulant en haut à gauche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le projet cible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12464" y="1143000"/>
            <a:ext cx="1572768" cy="228600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12464" y="1143000"/>
            <a:ext cx="1572768" cy="384048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12464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0" y="114300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une instance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03904" y="1572768"/>
            <a:ext cx="141732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→ Compute → Instances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« Launch Instance »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31536" y="1143000"/>
            <a:ext cx="1572768" cy="228600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31536" y="1143000"/>
            <a:ext cx="1572768" cy="384048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31536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33872" y="114300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l'instance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22976" y="1572768"/>
            <a:ext cx="141732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· Image (ex: cirros) · Flavor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· Paire de clés SSH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50608" y="1143000"/>
            <a:ext cx="1572768" cy="228600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150608" y="1143000"/>
            <a:ext cx="1572768" cy="384048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150608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52944" y="114300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42048" y="1572768"/>
            <a:ext cx="141732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sur « Launch Instance »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: Build → Active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3547872"/>
            <a:ext cx="73152" cy="32004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3547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CLI (ligne de commande)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3913632"/>
            <a:ext cx="8595360" cy="1051560"/>
          </a:xfrm>
          <a:prstGeom prst="rect">
            <a:avLst/>
          </a:prstGeom>
          <a:solidFill>
            <a:srgbClr val="2B2B2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1480" y="3931920"/>
            <a:ext cx="832104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~/devstack/openrc admin admin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openstack server create --flavor m1.small --image cirros-0.6.2 \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--network private --key-name mykey --security-group default ma-vm-01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openstack server list</a:t>
            </a:r>
            <a:endParaRPr lang="en-US" sz="9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343752-F8D6-40B7-4785-7C4C696DF72E}"/>
              </a:ext>
            </a:extLst>
          </p:cNvPr>
          <p:cNvSpPr txBox="1"/>
          <p:nvPr/>
        </p:nvSpPr>
        <p:spPr>
          <a:xfrm>
            <a:off x="8915400" y="47429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GESTION DES RESSOURCES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73152" cy="32004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Flavors (CPU/RAM/Disque)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: Admin → Compute → Flavors → « + Create Flavor »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919985"/>
              </p:ext>
            </p:extLst>
          </p:nvPr>
        </p:nvGraphicFramePr>
        <p:xfrm>
          <a:off x="274320" y="1298448"/>
          <a:ext cx="8595360" cy="1097280"/>
        </p:xfrm>
        <a:graphic>
          <a:graphicData uri="http://schemas.openxmlformats.org/drawingml/2006/table">
            <a:tbl>
              <a:tblPr/>
              <a:tblGrid>
                <a:gridCol w="1719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vCPUs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 : Champ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m1.tiny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/ VCPUs / RAM / Disk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m1.small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 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Go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Créer puis assigner aux VMs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m1.medium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4096 Mo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Go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4A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→ Compute → Instances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2331720"/>
            <a:ext cx="73152" cy="32004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Quotas par projet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651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: Identity → Projects → Modifier → onglet Quota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2926080"/>
            <a:ext cx="8595360" cy="548640"/>
          </a:xfrm>
          <a:prstGeom prst="rect">
            <a:avLst/>
          </a:prstGeom>
          <a:solidFill>
            <a:srgbClr val="2B2B2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1480" y="2944368"/>
            <a:ext cx="8321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openstack quota set --cores 20 --ram 51200 --instances 10 --volumes 20 mon-projet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openstack quota show mon-projet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3566160"/>
            <a:ext cx="73152" cy="32004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7200" y="35661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Cinder (Stockage bloc persistant)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3950208"/>
            <a:ext cx="2029968" cy="100584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" y="3950208"/>
            <a:ext cx="320040" cy="100584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4320" y="3950208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" y="3977640"/>
            <a:ext cx="160020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→ Volumes → « Create Volume »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450592" y="3950208"/>
            <a:ext cx="2029968" cy="100584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450592" y="3950208"/>
            <a:ext cx="320040" cy="100584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450592" y="3950208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816352" y="3977640"/>
            <a:ext cx="160020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Nommer, choisir la taille (ex: 10 Go), type : lvmdriver-1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626864" y="3950208"/>
            <a:ext cx="2029968" cy="100584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626864" y="3950208"/>
            <a:ext cx="320040" cy="100584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626864" y="3950208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992624" y="3977640"/>
            <a:ext cx="160020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→ « Manage Attachments » → choisir l'instance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803136" y="3950208"/>
            <a:ext cx="2029968" cy="1005840"/>
          </a:xfrm>
          <a:prstGeom prst="rect">
            <a:avLst/>
          </a:prstGeom>
          <a:solidFill>
            <a:srgbClr val="2B2B2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803136" y="3950208"/>
            <a:ext cx="320040" cy="100584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803136" y="3950208"/>
            <a:ext cx="320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168896" y="3977640"/>
            <a:ext cx="160020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 : openstack server add volume ma-vm mon-volume</a:t>
            </a:r>
            <a:endParaRPr lang="en-US" sz="8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B56F35-39F1-4108-26A0-C9935E669C5F}"/>
              </a:ext>
            </a:extLst>
          </p:cNvPr>
          <p:cNvSpPr txBox="1"/>
          <p:nvPr/>
        </p:nvSpPr>
        <p:spPr>
          <a:xfrm>
            <a:off x="8915400" y="47429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RÉSEAU VIRTUEL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Topologie réseau OpenStack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280160" cy="640080"/>
          </a:xfrm>
          <a:prstGeom prst="ellipse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029968" y="12070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40280" y="1024128"/>
            <a:ext cx="1920240" cy="658368"/>
          </a:xfrm>
          <a:prstGeom prst="rect">
            <a:avLst/>
          </a:prstGeom>
          <a:solidFill>
            <a:srgbClr val="CF2131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40280" y="102412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Provider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(Externe)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024128"/>
            <a:ext cx="1463040" cy="658368"/>
          </a:xfrm>
          <a:prstGeom prst="rect">
            <a:avLst/>
          </a:prstGeom>
          <a:solidFill>
            <a:srgbClr val="2B2B2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024128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024128"/>
            <a:ext cx="1920240" cy="658368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03720" y="1024128"/>
            <a:ext cx="73152" cy="658368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40880" y="102412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Privé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10.0.0.0/24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1801368"/>
            <a:ext cx="73152" cy="301752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1801368"/>
            <a:ext cx="6400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du réseau dans Horizon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2194560"/>
            <a:ext cx="4206240" cy="123444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194560"/>
            <a:ext cx="73152" cy="123444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8912" y="22860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Provider (Externe)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" y="26060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→ Network → Networks → Create Network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Cocher « External Network » · Fournisseur : Flat · physnet1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584448"/>
            <a:ext cx="4206240" cy="123444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584448"/>
            <a:ext cx="73152" cy="123444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8912" y="367588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Privé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" y="399592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→ Network → Networks → Create Network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 : 10.0.0.0/24 · DNS : 8.8.8.8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09160" y="2194560"/>
            <a:ext cx="4206240" cy="123444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2194560"/>
            <a:ext cx="73152" cy="123444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73752" y="228600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Routeur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73752" y="26060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→ Network → Routers → Create Router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externe → provider-net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interface → private-subnet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584448"/>
            <a:ext cx="4206240" cy="123444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09160" y="3584448"/>
            <a:ext cx="73152" cy="123444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73752" y="3675888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Flottante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73752" y="399592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→ Network → Floating IPs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Allocate IP from Pool → provider-net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Associer à une instance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2B2B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 : openstack network create private-net  |  openstack subnet create --network private-net --subnet-range 10.0.0.0/24 private-subnet  |  openstack router create mon-routeur</a:t>
            </a:r>
            <a:endParaRPr lang="en-US" sz="85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4C5291F-0235-2FE5-E0A3-1A5367248D92}"/>
              </a:ext>
            </a:extLst>
          </p:cNvPr>
          <p:cNvCxnSpPr>
            <a:cxnSpLocks/>
          </p:cNvCxnSpPr>
          <p:nvPr/>
        </p:nvCxnSpPr>
        <p:spPr>
          <a:xfrm>
            <a:off x="1674055" y="1371600"/>
            <a:ext cx="457200" cy="0"/>
          </a:xfrm>
          <a:prstGeom prst="straightConnector1">
            <a:avLst/>
          </a:prstGeom>
          <a:ln w="15875">
            <a:solidFill>
              <a:srgbClr val="CF21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1C6F4A1-6828-AEF4-3C50-EB6313E232E5}"/>
              </a:ext>
            </a:extLst>
          </p:cNvPr>
          <p:cNvCxnSpPr>
            <a:cxnSpLocks/>
          </p:cNvCxnSpPr>
          <p:nvPr/>
        </p:nvCxnSpPr>
        <p:spPr>
          <a:xfrm>
            <a:off x="4274233" y="1353312"/>
            <a:ext cx="457200" cy="0"/>
          </a:xfrm>
          <a:prstGeom prst="straightConnector1">
            <a:avLst/>
          </a:prstGeom>
          <a:ln w="15875">
            <a:solidFill>
              <a:srgbClr val="CF21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F8069ED-4E8D-DE0A-EFF4-1E0AE5A343C3}"/>
              </a:ext>
            </a:extLst>
          </p:cNvPr>
          <p:cNvCxnSpPr>
            <a:cxnSpLocks/>
          </p:cNvCxnSpPr>
          <p:nvPr/>
        </p:nvCxnSpPr>
        <p:spPr>
          <a:xfrm>
            <a:off x="6400800" y="1343934"/>
            <a:ext cx="457200" cy="0"/>
          </a:xfrm>
          <a:prstGeom prst="straightConnector1">
            <a:avLst/>
          </a:prstGeom>
          <a:ln w="15875">
            <a:solidFill>
              <a:srgbClr val="CF21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A3242A44-2D26-BDCD-0564-E209A29C7AAD}"/>
              </a:ext>
            </a:extLst>
          </p:cNvPr>
          <p:cNvSpPr txBox="1"/>
          <p:nvPr/>
        </p:nvSpPr>
        <p:spPr>
          <a:xfrm>
            <a:off x="8915400" y="47429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TESTS &amp; VALIDATION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2788920" cy="141732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788920" cy="36576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7498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Accès Dashboard Horizon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161288"/>
            <a:ext cx="2606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http://&lt;IP&gt;/dashboard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admin réussie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18688" y="749808"/>
            <a:ext cx="2788920" cy="141732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18688" y="749808"/>
            <a:ext cx="2788920" cy="36576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10128" y="7498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Création d'instance VM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10128" y="1161288"/>
            <a:ext cx="2606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: Active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assignée automatiquement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63056" y="749808"/>
            <a:ext cx="2788920" cy="141732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63056" y="749808"/>
            <a:ext cx="2788920" cy="36576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54496" y="7498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SSH vers la VM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54496" y="1161288"/>
            <a:ext cx="2606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-i mykey.pem ubuntu@&lt;floating-ip&gt;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SSH OK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04288"/>
            <a:ext cx="2788920" cy="141732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2788920" cy="36576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23042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Ping inter-VMs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2715768"/>
            <a:ext cx="2606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&lt;IP-VM2&gt; depuis VM1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réseau privé OK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18688" y="2304288"/>
            <a:ext cx="2788920" cy="141732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18688" y="2304288"/>
            <a:ext cx="2788920" cy="36576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10128" y="23042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Volume attaché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2715768"/>
            <a:ext cx="2606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lsblk → /dev/vdb présent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réussi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2304288"/>
            <a:ext cx="2788920" cy="1417320"/>
          </a:xfrm>
          <a:prstGeom prst="rect">
            <a:avLst/>
          </a:prstGeom>
          <a:solidFill>
            <a:srgbClr val="F2F2F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63056" y="2304288"/>
            <a:ext cx="2788920" cy="36576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54496" y="23042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Réseau externe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54496" y="2715768"/>
            <a:ext cx="2606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flottante assignée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ifconfig.me → OK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913632"/>
            <a:ext cx="73152" cy="292608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9136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de vérification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233672"/>
            <a:ext cx="8595360" cy="777240"/>
          </a:xfrm>
          <a:prstGeom prst="rect">
            <a:avLst/>
          </a:prstGeom>
          <a:solidFill>
            <a:srgbClr val="2B2B2B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4251960"/>
            <a:ext cx="8321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openstack server list          # Lister toutes les VMs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openstack hypervisor stats show # Ressources disponibles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openstack network list          # Réseaux configurés</a:t>
            </a:r>
            <a:endParaRPr lang="en-US" sz="95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EF28D5-D667-1975-1E10-DB29D7DA0FC8}"/>
              </a:ext>
            </a:extLst>
          </p:cNvPr>
          <p:cNvSpPr txBox="1"/>
          <p:nvPr/>
        </p:nvSpPr>
        <p:spPr>
          <a:xfrm>
            <a:off x="8915400" y="47429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109728" cy="454914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avons réalisé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56032" cy="256032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170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d'OpenStack via DevStack sur Ubuntu 24.04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256032" cy="256032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627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1627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des services : Keystone, Nova, Neutron, Glance, Cinder, Horizon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84832"/>
            <a:ext cx="256032" cy="256032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084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20848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et gestion de machines </a:t>
            </a:r>
            <a:r>
              <a:rPr lang="en-US" sz="1100" dirty="0" err="1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virtuelles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42032"/>
            <a:ext cx="256032" cy="256032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542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" y="2542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du réseau virtuel : provider, privé, routeur, IPs flottantes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99232"/>
            <a:ext cx="256032" cy="256032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9992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" y="29992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ressources : flavors, volumes, quotas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3474720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d'évolution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74320" y="3886200"/>
            <a:ext cx="2743200" cy="1005840"/>
          </a:xfrm>
          <a:prstGeom prst="rect">
            <a:avLst/>
          </a:prstGeom>
          <a:solidFill>
            <a:srgbClr val="36363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886200"/>
            <a:ext cx="2743200" cy="73152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Multi-nœuds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315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Controller / Compute / Storage nodes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3886200"/>
            <a:ext cx="2743200" cy="1005840"/>
          </a:xfrm>
          <a:prstGeom prst="rect">
            <a:avLst/>
          </a:prstGeom>
          <a:solidFill>
            <a:srgbClr val="36363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46120" y="3886200"/>
            <a:ext cx="2743200" cy="73152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37560" y="3977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37560" y="4315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distribué pour la haute disponibilité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17920" y="3886200"/>
            <a:ext cx="2743200" cy="1005840"/>
          </a:xfrm>
          <a:prstGeom prst="rect">
            <a:avLst/>
          </a:prstGeom>
          <a:solidFill>
            <a:srgbClr val="36363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17920" y="3886200"/>
            <a:ext cx="2743200" cy="73152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09360" y="3977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(Orchestration)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43159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des déploiements via templates</a:t>
            </a:r>
            <a:endParaRPr lang="en-US" sz="9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C6AD51-8F06-6806-D29A-1AA84D23792C}"/>
              </a:ext>
            </a:extLst>
          </p:cNvPr>
          <p:cNvSpPr txBox="1"/>
          <p:nvPr/>
        </p:nvSpPr>
        <p:spPr>
          <a:xfrm>
            <a:off x="8915400" y="47429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A5813E-CC65-F8F4-A54D-271BC8142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7919796-50DF-3C6C-87C5-BD878C353568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F12A23E-680D-8582-DB5C-5E0F18971694}"/>
              </a:ext>
            </a:extLst>
          </p:cNvPr>
          <p:cNvSpPr/>
          <p:nvPr/>
        </p:nvSpPr>
        <p:spPr>
          <a:xfrm>
            <a:off x="164592" y="0"/>
            <a:ext cx="8979408" cy="118872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16DF8B-BC47-831A-610B-441ADD57198D}"/>
              </a:ext>
            </a:extLst>
          </p:cNvPr>
          <p:cNvSpPr/>
          <p:nvPr/>
        </p:nvSpPr>
        <p:spPr>
          <a:xfrm>
            <a:off x="320040" y="120700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800" dirty="0">
                <a:solidFill>
                  <a:srgbClr val="CF21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PRIVÉ</a:t>
            </a:r>
            <a:endParaRPr lang="en-US" sz="1300" dirty="0">
              <a:solidFill>
                <a:srgbClr val="CF213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BEA37AC-1D34-9151-555D-D6F7F0D202A4}"/>
              </a:ext>
            </a:extLst>
          </p:cNvPr>
          <p:cNvSpPr/>
          <p:nvPr/>
        </p:nvSpPr>
        <p:spPr>
          <a:xfrm>
            <a:off x="320040" y="137160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d'un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Privé avec OpenStack</a:t>
            </a:r>
            <a:endParaRPr lang="en-US" sz="3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E902FC-F0F4-7960-F17A-6E8E52E46D24}"/>
              </a:ext>
            </a:extLst>
          </p:cNvPr>
          <p:cNvSpPr/>
          <p:nvPr/>
        </p:nvSpPr>
        <p:spPr>
          <a:xfrm>
            <a:off x="320040" y="3291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· Machines Virtuelles · Réseau · Stockage</a:t>
            </a:r>
            <a:endParaRPr lang="en-US" sz="13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336AD2F-14AD-9680-7537-225FEDD4F4D6}"/>
              </a:ext>
            </a:extLst>
          </p:cNvPr>
          <p:cNvGrpSpPr/>
          <p:nvPr/>
        </p:nvGrpSpPr>
        <p:grpSpPr>
          <a:xfrm>
            <a:off x="347473" y="2788920"/>
            <a:ext cx="2194560" cy="502920"/>
            <a:chOff x="320040" y="3931920"/>
            <a:chExt cx="2194560" cy="502920"/>
          </a:xfrm>
        </p:grpSpPr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CA25AFD7-C00D-6172-39FC-72A230D5AECD}"/>
                </a:ext>
              </a:extLst>
            </p:cNvPr>
            <p:cNvSpPr/>
            <p:nvPr/>
          </p:nvSpPr>
          <p:spPr>
            <a:xfrm>
              <a:off x="320040" y="3931920"/>
              <a:ext cx="2194560" cy="502920"/>
            </a:xfrm>
            <a:prstGeom prst="rect">
              <a:avLst/>
            </a:prstGeom>
            <a:solidFill>
              <a:srgbClr val="A01820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EE1F6DD8-4CCA-823D-038A-67B13B0B4378}"/>
                </a:ext>
              </a:extLst>
            </p:cNvPr>
            <p:cNvSpPr/>
            <p:nvPr/>
          </p:nvSpPr>
          <p:spPr>
            <a:xfrm>
              <a:off x="320040" y="3931920"/>
              <a:ext cx="21945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Ubuntu 24.04 · DevStack</a:t>
              </a:r>
              <a:endParaRPr lang="en-US" sz="1100" dirty="0"/>
            </a:p>
          </p:txBody>
        </p:sp>
      </p:grpSp>
      <p:sp>
        <p:nvSpPr>
          <p:cNvPr id="9" name="Shape 7">
            <a:extLst>
              <a:ext uri="{FF2B5EF4-FFF2-40B4-BE49-F238E27FC236}">
                <a16:creationId xmlns:a16="http://schemas.microsoft.com/office/drawing/2014/main" id="{4BC94EF9-578F-162A-4DF7-E81B09B8DED8}"/>
              </a:ext>
            </a:extLst>
          </p:cNvPr>
          <p:cNvSpPr/>
          <p:nvPr/>
        </p:nvSpPr>
        <p:spPr>
          <a:xfrm>
            <a:off x="6355080" y="1371600"/>
            <a:ext cx="2468880" cy="502920"/>
          </a:xfrm>
          <a:prstGeom prst="rect">
            <a:avLst/>
          </a:prstGeom>
          <a:solidFill>
            <a:srgbClr val="3A3A3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92AABF7-B091-FED4-82DA-210C56C1F969}"/>
              </a:ext>
            </a:extLst>
          </p:cNvPr>
          <p:cNvSpPr/>
          <p:nvPr/>
        </p:nvSpPr>
        <p:spPr>
          <a:xfrm>
            <a:off x="6355080" y="1371600"/>
            <a:ext cx="54864" cy="50292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219E2F9-0823-E533-27FB-437405DDC3A9}"/>
              </a:ext>
            </a:extLst>
          </p:cNvPr>
          <p:cNvSpPr/>
          <p:nvPr/>
        </p:nvSpPr>
        <p:spPr>
          <a:xfrm>
            <a:off x="6464808" y="1371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402DE8F-0D20-9838-2B03-5AF5B0E3E662}"/>
              </a:ext>
            </a:extLst>
          </p:cNvPr>
          <p:cNvSpPr/>
          <p:nvPr/>
        </p:nvSpPr>
        <p:spPr>
          <a:xfrm>
            <a:off x="6355080" y="1965960"/>
            <a:ext cx="2468880" cy="502920"/>
          </a:xfrm>
          <a:prstGeom prst="rect">
            <a:avLst/>
          </a:prstGeom>
          <a:solidFill>
            <a:srgbClr val="333333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B6D090A-4B43-A42B-FBD5-FD1CCE363FEC}"/>
              </a:ext>
            </a:extLst>
          </p:cNvPr>
          <p:cNvSpPr/>
          <p:nvPr/>
        </p:nvSpPr>
        <p:spPr>
          <a:xfrm>
            <a:off x="6355080" y="1965960"/>
            <a:ext cx="54864" cy="50292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DE772F0-4CA5-3F5C-90B4-C1C120F7B1A1}"/>
              </a:ext>
            </a:extLst>
          </p:cNvPr>
          <p:cNvSpPr/>
          <p:nvPr/>
        </p:nvSpPr>
        <p:spPr>
          <a:xfrm>
            <a:off x="6464808" y="1965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</a:t>
            </a:r>
            <a:endParaRPr lang="en-US" sz="12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CCF0EF6-C7A8-2F84-8C8F-1C56CD8408D2}"/>
              </a:ext>
            </a:extLst>
          </p:cNvPr>
          <p:cNvSpPr/>
          <p:nvPr/>
        </p:nvSpPr>
        <p:spPr>
          <a:xfrm>
            <a:off x="6355080" y="2560320"/>
            <a:ext cx="2468880" cy="502920"/>
          </a:xfrm>
          <a:prstGeom prst="rect">
            <a:avLst/>
          </a:prstGeom>
          <a:solidFill>
            <a:srgbClr val="3A3A3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9BC1DB0-1580-5892-C6CF-877BFC45EAFC}"/>
              </a:ext>
            </a:extLst>
          </p:cNvPr>
          <p:cNvSpPr/>
          <p:nvPr/>
        </p:nvSpPr>
        <p:spPr>
          <a:xfrm>
            <a:off x="6355080" y="2560320"/>
            <a:ext cx="54864" cy="50292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B478089-D601-0224-46C8-805FA53B430F}"/>
              </a:ext>
            </a:extLst>
          </p:cNvPr>
          <p:cNvSpPr/>
          <p:nvPr/>
        </p:nvSpPr>
        <p:spPr>
          <a:xfrm>
            <a:off x="6464808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</a:t>
            </a:r>
            <a:endParaRPr lang="en-US" sz="1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DD0B529-1361-A5A0-E4BE-11BED34A2AB1}"/>
              </a:ext>
            </a:extLst>
          </p:cNvPr>
          <p:cNvSpPr/>
          <p:nvPr/>
        </p:nvSpPr>
        <p:spPr>
          <a:xfrm>
            <a:off x="6355080" y="3154680"/>
            <a:ext cx="2468880" cy="502920"/>
          </a:xfrm>
          <a:prstGeom prst="rect">
            <a:avLst/>
          </a:prstGeom>
          <a:solidFill>
            <a:srgbClr val="333333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C818184A-542D-33F0-CF7A-0B4BF0668E32}"/>
              </a:ext>
            </a:extLst>
          </p:cNvPr>
          <p:cNvSpPr/>
          <p:nvPr/>
        </p:nvSpPr>
        <p:spPr>
          <a:xfrm>
            <a:off x="6355080" y="3154680"/>
            <a:ext cx="54864" cy="50292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9A3373B-51F9-69E6-BB91-7F0632E38D97}"/>
              </a:ext>
            </a:extLst>
          </p:cNvPr>
          <p:cNvSpPr/>
          <p:nvPr/>
        </p:nvSpPr>
        <p:spPr>
          <a:xfrm>
            <a:off x="6464808" y="3154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Glance</a:t>
            </a:r>
            <a:endParaRPr lang="en-US" sz="1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A99C3A1-B92C-847F-28F7-944773DCD59F}"/>
              </a:ext>
            </a:extLst>
          </p:cNvPr>
          <p:cNvSpPr/>
          <p:nvPr/>
        </p:nvSpPr>
        <p:spPr>
          <a:xfrm>
            <a:off x="6355080" y="3749040"/>
            <a:ext cx="2468880" cy="502920"/>
          </a:xfrm>
          <a:prstGeom prst="rect">
            <a:avLst/>
          </a:prstGeom>
          <a:solidFill>
            <a:srgbClr val="3A3A3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F5CF843-1881-0A79-8C90-849AD75B6A92}"/>
              </a:ext>
            </a:extLst>
          </p:cNvPr>
          <p:cNvSpPr/>
          <p:nvPr/>
        </p:nvSpPr>
        <p:spPr>
          <a:xfrm>
            <a:off x="6355080" y="3749040"/>
            <a:ext cx="54864" cy="50292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1BD0D82-FB00-BCC9-29F2-319D5A1E4A63}"/>
              </a:ext>
            </a:extLst>
          </p:cNvPr>
          <p:cNvSpPr/>
          <p:nvPr/>
        </p:nvSpPr>
        <p:spPr>
          <a:xfrm>
            <a:off x="6464808" y="3749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Cinder</a:t>
            </a:r>
            <a:endParaRPr lang="en-US" sz="12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BD046D3-DBD9-7AA4-75E1-1A0C18F4412E}"/>
              </a:ext>
            </a:extLst>
          </p:cNvPr>
          <p:cNvSpPr/>
          <p:nvPr/>
        </p:nvSpPr>
        <p:spPr>
          <a:xfrm>
            <a:off x="6355080" y="4343400"/>
            <a:ext cx="2468880" cy="502920"/>
          </a:xfrm>
          <a:prstGeom prst="rect">
            <a:avLst/>
          </a:prstGeom>
          <a:solidFill>
            <a:srgbClr val="333333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MA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2CD5267-9F95-10E2-CBB1-772C37575DAF}"/>
              </a:ext>
            </a:extLst>
          </p:cNvPr>
          <p:cNvSpPr/>
          <p:nvPr/>
        </p:nvSpPr>
        <p:spPr>
          <a:xfrm>
            <a:off x="6355080" y="4343400"/>
            <a:ext cx="54864" cy="502920"/>
          </a:xfrm>
          <a:prstGeom prst="rect">
            <a:avLst/>
          </a:prstGeom>
          <a:solidFill>
            <a:srgbClr val="CF213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162A783-4B81-0741-6E04-A44D11ADE93F}"/>
              </a:ext>
            </a:extLst>
          </p:cNvPr>
          <p:cNvSpPr/>
          <p:nvPr/>
        </p:nvSpPr>
        <p:spPr>
          <a:xfrm>
            <a:off x="6464808" y="4343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D454A8-DD6D-1661-D995-9433EBBF739C}"/>
              </a:ext>
            </a:extLst>
          </p:cNvPr>
          <p:cNvSpPr txBox="1"/>
          <p:nvPr/>
        </p:nvSpPr>
        <p:spPr>
          <a:xfrm>
            <a:off x="347473" y="4042871"/>
            <a:ext cx="204716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OUAFIR Mohamed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ENNAQUI Zakaria</a:t>
            </a:r>
            <a:endParaRPr lang="fr-MA" sz="1300" dirty="0">
              <a:solidFill>
                <a:srgbClr val="D6D6D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3B28BE-6031-4A32-CA94-B59E3F7121EE}"/>
              </a:ext>
            </a:extLst>
          </p:cNvPr>
          <p:cNvSpPr txBox="1"/>
          <p:nvPr/>
        </p:nvSpPr>
        <p:spPr>
          <a:xfrm>
            <a:off x="3774014" y="4042871"/>
            <a:ext cx="20471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300" dirty="0">
                <a:solidFill>
                  <a:srgbClr val="D6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SAHMI Imane</a:t>
            </a:r>
          </a:p>
        </p:txBody>
      </p:sp>
      <p:pic>
        <p:nvPicPr>
          <p:cNvPr id="33" name="Image 0">
            <a:extLst>
              <a:ext uri="{FF2B5EF4-FFF2-40B4-BE49-F238E27FC236}">
                <a16:creationId xmlns:a16="http://schemas.microsoft.com/office/drawing/2014/main" id="{88D7089F-D481-1C17-F740-B88F8D618D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0235" y="133603"/>
            <a:ext cx="1590363" cy="581498"/>
          </a:xfrm>
          <a:prstGeom prst="rect">
            <a:avLst/>
          </a:prstGeom>
        </p:spPr>
      </p:pic>
      <p:pic>
        <p:nvPicPr>
          <p:cNvPr id="34" name="Image 1">
            <a:extLst>
              <a:ext uri="{FF2B5EF4-FFF2-40B4-BE49-F238E27FC236}">
                <a16:creationId xmlns:a16="http://schemas.microsoft.com/office/drawing/2014/main" id="{50836AEC-D6A0-0C6C-7390-D46C7BFE3D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95160" y="197010"/>
            <a:ext cx="1921386" cy="526406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40EC5EDC-48AD-F983-E749-970B2FDE20AE}"/>
              </a:ext>
            </a:extLst>
          </p:cNvPr>
          <p:cNvGrpSpPr/>
          <p:nvPr/>
        </p:nvGrpSpPr>
        <p:grpSpPr>
          <a:xfrm>
            <a:off x="934374" y="524717"/>
            <a:ext cx="6744723" cy="597396"/>
            <a:chOff x="1066800" y="691296"/>
            <a:chExt cx="6744723" cy="597396"/>
          </a:xfrm>
        </p:grpSpPr>
        <p:sp>
          <p:nvSpPr>
            <p:cNvPr id="36" name="Text 3">
              <a:extLst>
                <a:ext uri="{FF2B5EF4-FFF2-40B4-BE49-F238E27FC236}">
                  <a16:creationId xmlns:a16="http://schemas.microsoft.com/office/drawing/2014/main" id="{FF3185C5-C209-BF57-07D5-7A312B1D7211}"/>
                </a:ext>
              </a:extLst>
            </p:cNvPr>
            <p:cNvSpPr/>
            <p:nvPr/>
          </p:nvSpPr>
          <p:spPr>
            <a:xfrm>
              <a:off x="1066800" y="691296"/>
              <a:ext cx="65836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500" b="1" dirty="0">
                  <a:solidFill>
                    <a:srgbClr val="A5B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Université Hassan 1er </a:t>
              </a:r>
              <a:r>
                <a:rPr lang="en-US" sz="1500" b="1" dirty="0">
                  <a:solidFill>
                    <a:srgbClr val="B7C3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</a:t>
              </a:r>
              <a:r>
                <a:rPr lang="en-US" sz="1500" b="1" dirty="0">
                  <a:solidFill>
                    <a:srgbClr val="A5B4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ENSA Berrechid</a:t>
              </a:r>
              <a:endParaRPr lang="en-US" sz="1500" b="1" dirty="0"/>
            </a:p>
          </p:txBody>
        </p:sp>
        <p:sp>
          <p:nvSpPr>
            <p:cNvPr id="37" name="Text 4">
              <a:extLst>
                <a:ext uri="{FF2B5EF4-FFF2-40B4-BE49-F238E27FC236}">
                  <a16:creationId xmlns:a16="http://schemas.microsoft.com/office/drawing/2014/main" id="{7D8B5595-97AE-9DB7-395C-E72A4AFDCD51}"/>
                </a:ext>
              </a:extLst>
            </p:cNvPr>
            <p:cNvSpPr/>
            <p:nvPr/>
          </p:nvSpPr>
          <p:spPr>
            <a:xfrm>
              <a:off x="1227843" y="1032660"/>
              <a:ext cx="65836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500" b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Génie Informatique </a:t>
              </a:r>
              <a:r>
                <a:rPr lang="en-US" sz="1500" b="1" dirty="0">
                  <a:solidFill>
                    <a:srgbClr val="B7C3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</a:t>
              </a:r>
              <a:r>
                <a:rPr lang="en-US" sz="1500" b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Administration systems &amp; réseaux </a:t>
              </a:r>
              <a:r>
                <a:rPr lang="en-US" sz="1500" b="1" dirty="0">
                  <a:solidFill>
                    <a:srgbClr val="B7C3F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</a:t>
              </a:r>
              <a:r>
                <a:rPr lang="en-US" sz="1500" b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S8</a:t>
              </a:r>
              <a:endParaRPr lang="en-US" sz="1500" b="1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1279F3D-B0A3-B6FF-9754-D0F75699C31B}"/>
              </a:ext>
            </a:extLst>
          </p:cNvPr>
          <p:cNvGrpSpPr/>
          <p:nvPr/>
        </p:nvGrpSpPr>
        <p:grpSpPr>
          <a:xfrm>
            <a:off x="-3316474" y="5208328"/>
            <a:ext cx="4572000" cy="4572000"/>
            <a:chOff x="5486400" y="-731520"/>
            <a:chExt cx="4572000" cy="4572000"/>
          </a:xfrm>
        </p:grpSpPr>
        <p:sp>
          <p:nvSpPr>
            <p:cNvPr id="38" name="Shape 2">
              <a:extLst>
                <a:ext uri="{FF2B5EF4-FFF2-40B4-BE49-F238E27FC236}">
                  <a16:creationId xmlns:a16="http://schemas.microsoft.com/office/drawing/2014/main" id="{AAD06DCB-0A75-D956-6640-B148F2156D92}"/>
                </a:ext>
              </a:extLst>
            </p:cNvPr>
            <p:cNvSpPr/>
            <p:nvPr/>
          </p:nvSpPr>
          <p:spPr>
            <a:xfrm>
              <a:off x="5486400" y="-731520"/>
              <a:ext cx="4572000" cy="4572000"/>
            </a:xfrm>
            <a:prstGeom prst="ellipse">
              <a:avLst/>
            </a:prstGeom>
            <a:solidFill>
              <a:schemeClr val="bg2">
                <a:lumMod val="75000"/>
                <a:alpha val="18000"/>
              </a:schemeClr>
            </a:solidFill>
            <a:ln w="12700">
              <a:solidFill>
                <a:srgbClr val="CF2131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3">
              <a:extLst>
                <a:ext uri="{FF2B5EF4-FFF2-40B4-BE49-F238E27FC236}">
                  <a16:creationId xmlns:a16="http://schemas.microsoft.com/office/drawing/2014/main" id="{F695D0F7-7CE1-31F8-057C-B093961FE3C5}"/>
                </a:ext>
              </a:extLst>
            </p:cNvPr>
            <p:cNvSpPr/>
            <p:nvPr/>
          </p:nvSpPr>
          <p:spPr>
            <a:xfrm>
              <a:off x="6217920" y="0"/>
              <a:ext cx="3108960" cy="3108960"/>
            </a:xfrm>
            <a:prstGeom prst="ellipse">
              <a:avLst/>
            </a:prstGeom>
            <a:solidFill>
              <a:srgbClr val="A01820">
                <a:alpha val="14000"/>
              </a:srgbClr>
            </a:solidFill>
            <a:ln w="12700">
              <a:solidFill>
                <a:srgbClr val="CF2131">
                  <a:alpha val="30000"/>
                </a:srgbClr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0132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1128</Words>
  <Application>Microsoft Office PowerPoint</Application>
  <PresentationFormat>On-screen Show (16:9)</PresentationFormat>
  <Paragraphs>276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Mise en place d'un Cloud Privé avec OpenStack</dc:title>
  <dc:subject>PptxGenJS Presentation</dc:subject>
  <dc:creator>PptxGenJS</dc:creator>
  <cp:lastModifiedBy>zakaria ennaqui</cp:lastModifiedBy>
  <cp:revision>7</cp:revision>
  <dcterms:created xsi:type="dcterms:W3CDTF">2026-05-13T18:24:10Z</dcterms:created>
  <dcterms:modified xsi:type="dcterms:W3CDTF">2026-05-19T15:58:00Z</dcterms:modified>
</cp:coreProperties>
</file>